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229600" y="-1828800"/>
            <a:ext cx="5486400" cy="5486400"/>
          </a:xfrm>
          <a:prstGeom prst="ellipse">
            <a:avLst/>
          </a:prstGeom>
          <a:solidFill>
            <a:srgbClr val="0C2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1081735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5000" b="1">
                <a:solidFill>
                  <a:srgbClr val="F8FAFC"/>
                </a:solidFill>
                <a:latin typeface="Arial"/>
              </a:defRPr>
            </a:pPr>
            <a:r>
              <a:t>IoT Network Traffic Generator</a:t>
            </a:r>
          </a:p>
          <a:p>
            <a:pPr>
              <a:defRPr sz="2200">
                <a:solidFill>
                  <a:srgbClr val="22D3EE"/>
                </a:solidFill>
                <a:latin typeface="Arial"/>
              </a:defRPr>
            </a:pPr>
            <a:r>
              <a:t>A Modular, Multi-Protocol Simulation Framework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3474720"/>
            <a:ext cx="53035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SUBMITTED BY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Amjad Khan</a:t>
            </a:r>
            <a:br/>
            <a:r>
              <a:t>CS &amp; Engineering Student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474720"/>
            <a:ext cx="53035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5080" y="36118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SUPERVISED BY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Dr. Bhale Pradeepkumar Gajendra</a:t>
            </a:r>
            <a:br/>
            <a:r>
              <a:t>IIITDM Kancheepuram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46320"/>
            <a:ext cx="53035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9834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PROGRAM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AICTE Smarthan Internship</a:t>
            </a:r>
            <a:br/>
            <a:r>
              <a:t>2026-2027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846320"/>
            <a:ext cx="530352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4983480"/>
            <a:ext cx="49377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6B6D4"/>
                </a:solidFill>
                <a:latin typeface="Arial"/>
              </a:defRPr>
            </a:pPr>
            <a:r>
              <a:t>HOST INSTITUTION</a:t>
            </a:r>
          </a:p>
          <a:p>
            <a:pPr>
              <a:defRPr sz="1400" b="1">
                <a:solidFill>
                  <a:srgbClr val="F8FAFC"/>
                </a:solidFill>
                <a:latin typeface="Arial"/>
              </a:defRPr>
            </a:pPr>
            <a:r>
              <a:t>IIITDM Kancheepuram</a:t>
            </a:r>
            <a:br/>
            <a:r>
              <a:t>Chennai, India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Agenda &amp; Outline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02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6858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9385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Introduction (Background &amp; Motivation)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834640"/>
            <a:ext cx="6858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94436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Problem Statement &amp; Objectives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840480"/>
            <a:ext cx="6858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95020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Related Work &amp; Literature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846320"/>
            <a:ext cx="6858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495604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Proposed Work &amp; Implementation Details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6858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600" y="193852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System Design &amp; Architecture Diagram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834640"/>
            <a:ext cx="6858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294436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Testing, Results &amp; Performance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840480"/>
            <a:ext cx="6858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95020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Discussion &amp; Load Impact Analysis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846320"/>
            <a:ext cx="68580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06B6D4"/>
                </a:solidFill>
                <a:latin typeface="Courier New"/>
              </a:defRPr>
            </a:pPr>
            <a: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4956048"/>
            <a:ext cx="44348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600" b="1">
                <a:solidFill>
                  <a:srgbClr val="F8FAFC"/>
                </a:solidFill>
                <a:latin typeface="Arial"/>
              </a:defRPr>
            </a:pPr>
            <a:r>
              <a:t>Conclusion, Future Scope &amp; 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03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22D3EE"/>
                </a:solidFill>
                <a:latin typeface="Arial"/>
              </a:defRPr>
            </a:pPr>
            <a:r>
              <a:t>Background &amp; Motivation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  <a:latin typeface="Arial"/>
              </a:defRPr>
            </a:pPr>
            <a:r>
              <a:t>With the exponential rise of IoT devices across smart homes, industrial complexes, and medical infrastructures, networks face massive scaling demands. Simulating network traffic enables testing infrastructures before actual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023360"/>
            <a:ext cx="5029200" cy="1645920"/>
          </a:xfrm>
          <a:prstGeom prst="roundRect">
            <a:avLst/>
          </a:prstGeom>
          <a:solidFill>
            <a:srgbClr val="0C2337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600"/>
              </a:spcAft>
              <a:defRPr sz="1200" b="1">
                <a:solidFill>
                  <a:srgbClr val="06B6D4"/>
                </a:solidFill>
                <a:latin typeface="Arial"/>
              </a:defRPr>
            </a:pPr>
            <a:r>
              <a:t>KEY RESEARCH FACTOR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Software-defined network simulation offers a highly scalable, zero-dependency, cost-effective alternative to deploying physical hardware loops.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•  Heterogeneous Protocols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IoT simulation demands supporting diverse application layer protocols: UDP (low latency), TCP (reliable streams), HTTP (REST interfaces), and MQTT (publish-subscribe telemetry).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•  Variable Traffic Dynamics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Device traffic profiles fluctuate between standard telemetry routines, critical event bursts, and malware-driven floods.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04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2743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3F5E"/>
                </a:solidFill>
                <a:latin typeface="Arial"/>
              </a:defRPr>
            </a:pPr>
            <a:r>
              <a:t>Cost &amp; Logistics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Physical verification of setups using hundreds of distinct IoT devices is cost-prohibitive and difficult to automate or configure.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737360"/>
            <a:ext cx="73152" cy="2743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82880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Traffic Diversity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Standard simulators utilize homogeneous, static patterns, failing to model compound multi-protocol payloads or sudden state changes.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645920"/>
            <a:ext cx="3383280" cy="29260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92440" y="1737360"/>
            <a:ext cx="73152" cy="27432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828800"/>
            <a:ext cx="297180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43F5E"/>
                </a:solidFill>
                <a:latin typeface="Arial"/>
              </a:defRPr>
            </a:pPr>
            <a:r>
              <a:t>Security Stress Testing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IoT units are vulnerable to botnets like Mirai. Security researchers require dynamic DDoS workloads to verify firewall rules.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846320"/>
            <a:ext cx="10817352" cy="1097280"/>
          </a:xfrm>
          <a:prstGeom prst="roundRect">
            <a:avLst/>
          </a:prstGeom>
          <a:solidFill>
            <a:srgbClr val="280F19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200" b="1">
                <a:solidFill>
                  <a:srgbClr val="F43F5E"/>
                </a:solidFill>
                <a:latin typeface="Arial"/>
              </a:defRPr>
            </a:pPr>
            <a:r>
              <a:t>RESEARCH GAP</a:t>
            </a:r>
          </a:p>
          <a:p>
            <a:pPr>
              <a:defRPr sz="1400">
                <a:solidFill>
                  <a:srgbClr val="F8FAFC"/>
                </a:solidFill>
                <a:latin typeface="Arial"/>
              </a:defRPr>
            </a:pPr>
            <a:r>
              <a:t>There is a critical lack of zero-dependency, Python-only simulators capable of shifting device profiles dynamically from normal periodic updates to burst alerts and botnet attack loads during runtime.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Internship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05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•  Protocol Exploration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Deep dive into framing constraints, packet structures, and transfer protocols (UDP, TCP, HTTP, MQTT).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•  Concurrency Simulation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Implement a robust multi-threaded client model in Python that manages concurrent device loops.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•  Multi-Profile Traffic Modeling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Formulate realistic schedules for Normal, Burst, and DDoS Attack traffic types.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•  Low-Level socket implementation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Code raw byte-level MQTT CONNECT and PUBLISH packets to bypass third-party library requirements.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•  Aggregation and Statistics Tracker</a:t>
            </a:r>
          </a:p>
          <a:p>
            <a:pPr>
              <a:spcAft>
                <a:spcPts val="14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    Build a receiver server that aggregates socket buffers, tracks packets, and prints network performance metrics.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Related Work &amp; 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06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2D3EE"/>
                </a:solidFill>
                <a:latin typeface="Arial"/>
              </a:defRPr>
            </a:pPr>
            <a:r>
              <a:t>Standards &amp; RFC Documentation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RFC 768 (UDP)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Connectionless structure, packet headers, MTU limits, and transmission mechanics.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RFC 2616 (HTTP/1.1)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REST methods, headers, payload framing, and TCP socket persistence.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MQTT v3.1.1 (OASIS)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Binary wire format protocol, publish/subscribe schemas, control bytes, and topic parsing.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2D3EE"/>
                </a:solidFill>
                <a:latin typeface="Arial"/>
              </a:defRPr>
            </a:pPr>
            <a:r>
              <a:t>Literature &amp; Simulators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Botnet Traffic Emulation</a:t>
            </a:r>
          </a:p>
          <a:p>
            <a:pPr>
              <a:spcAft>
                <a:spcPts val="2000"/>
              </a:spcAft>
              <a:defRPr sz="1400">
                <a:solidFill>
                  <a:srgbClr val="94A3B8"/>
                </a:solidFill>
                <a:latin typeface="Arial"/>
              </a:defRPr>
            </a:pPr>
            <a:r>
              <a:t>Research on the Mirai Botnet (IEEE S&amp;P, 2017) details how vulnerable IoT units form coordinate swarms. This informs our HTTP/TCP flood logic.</a:t>
            </a:r>
          </a:p>
          <a:p>
            <a:pPr>
              <a:spcAft>
                <a:spcPts val="400"/>
              </a:spcAft>
              <a:defRPr sz="1600" b="1">
                <a:solidFill>
                  <a:srgbClr val="F8FAFC"/>
                </a:solidFill>
                <a:latin typeface="Arial"/>
              </a:defRPr>
            </a:pPr>
            <a:r>
              <a:t>Simulators Comparison</a:t>
            </a:r>
          </a:p>
          <a:p>
            <a:pPr>
              <a:defRPr sz="1400">
                <a:solidFill>
                  <a:srgbClr val="94A3B8"/>
                </a:solidFill>
                <a:latin typeface="Arial"/>
              </a:defRPr>
            </a:pPr>
            <a:r>
              <a:t>Standard tools like NS3, Mininet, or PcapPlay require hypervisors or custom operating environments, lacking lightweight cross-platform scripts.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Proposed Work &amp; Implementation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07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22D3EE"/>
                </a:solidFill>
                <a:latin typeface="Arial"/>
              </a:defRPr>
            </a:pPr>
            <a:r>
              <a:t>Python-Based Client-Server Architecture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Multi-threading Model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Each device runs in a separate thread monitoring real-time configuration overrides.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Dynamic JSON Config Tracker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A checker loop re-reads `config.json` dynamic parameters without system reboots.</a:t>
            </a:r>
          </a:p>
          <a:p>
            <a:pPr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Raw Byte MQTT Packing</a:t>
            </a:r>
          </a:p>
          <a:p>
            <a:pPr>
              <a:spcAft>
                <a:spcPts val="10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Custom socket buffer methods create MQTT payloads directly at byte level without importing complex packages.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080C14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82880" bIns="182880"/>
          <a:lstStyle/>
          <a:p>
            <a:pPr algn="ctr">
              <a:spcAft>
                <a:spcPts val="400"/>
              </a:spcAft>
              <a:defRPr sz="1200">
                <a:solidFill>
                  <a:srgbClr val="64748B"/>
                </a:solidFill>
                <a:latin typeface="Courier New"/>
              </a:defRPr>
            </a:pPr>
            <a:r>
              <a:t># Raw MQTT packet assembler</a:t>
            </a:r>
          </a:p>
          <a:p>
            <a:pPr>
              <a:spcAft>
                <a:spcPts val="200"/>
              </a:spcAft>
              <a:defRPr sz="1200">
                <a:solidFill>
                  <a:srgbClr val="F43F5E"/>
                </a:solidFill>
                <a:latin typeface="Courier New"/>
              </a:defRPr>
            </a:pPr>
            <a:r>
              <a:t>def make_mqtt_publish_packet(topic, message):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urier New"/>
              </a:defRPr>
            </a:pPr>
            <a:r>
              <a:t>    topic_bytes = topic.encode('utf-8')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urier New"/>
              </a:defRPr>
            </a:pPr>
            <a:r>
              <a:t>    topic_len = len(topic_bytes).to_bytes(2, 'big')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urier New"/>
              </a:defRPr>
            </a:pPr>
            <a:r>
              <a:t>    msg_bytes = message.encode('utf-8')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urier New"/>
              </a:defRPr>
            </a:pPr>
            <a:r>
              <a:t>    payload = topic_len + topic_bytes + msg_bytes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urier New"/>
              </a:defRPr>
            </a:pPr>
            <a:r>
              <a:t>    rem_len = encode_remaining_length(len(payload))</a:t>
            </a:r>
          </a:p>
          <a:p>
            <a:pPr>
              <a:spcAft>
                <a:spcPts val="200"/>
              </a:spcAft>
              <a:defRPr sz="1200">
                <a:solidFill>
                  <a:srgbClr val="64748B"/>
                </a:solidFill>
                <a:latin typeface="Courier New"/>
              </a:defRPr>
            </a:pPr>
            <a:r>
              <a:t>    # 0x30 = PUBLISH Control Type</a:t>
            </a:r>
          </a:p>
          <a:p>
            <a:pPr>
              <a:spcAft>
                <a:spcPts val="200"/>
              </a:spcAft>
              <a:defRPr sz="1200">
                <a:solidFill>
                  <a:srgbClr val="F43F5E"/>
                </a:solidFill>
                <a:latin typeface="Courier New"/>
              </a:defRPr>
            </a:pPr>
            <a:r>
              <a:t>    return bytes([0x30]) + rem_len + payload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08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ermaid-diagram-2026-07-07-142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9445752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Testing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09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011680"/>
          <a:ext cx="1081735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286000"/>
                <a:gridCol w="2011680"/>
                <a:gridCol w="2496312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Traffic Profile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Packets Received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Total Bytes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Avg Byte Rate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06B6D4"/>
                          </a:solidFill>
                          <a:latin typeface="Arial"/>
                        </a:defRPr>
                      </a:pPr>
                      <a:r>
                        <a:t>Server Status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Normal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108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18,360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~306 B/s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Stable (Zero Loss)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Burst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432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75,168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~1.25 KB/s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59E0B"/>
                          </a:solidFill>
                          <a:latin typeface="Arial"/>
                        </a:defRPr>
                      </a:pPr>
                      <a:r>
                        <a:t>Stable (Low Latency)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Attack (DDoS)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14,210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4,263,000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8FAFC"/>
                          </a:solidFill>
                          <a:latin typeface="Arial"/>
                        </a:defRPr>
                      </a:pPr>
                      <a:r>
                        <a:t>~71.05 KB/s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F43F5E"/>
                          </a:solidFill>
                          <a:latin typeface="Arial"/>
                        </a:defRPr>
                      </a:pPr>
                      <a:r>
                        <a:t>High Load (Delayed)</a:t>
                      </a:r>
                    </a:p>
                  </a:txBody>
                  <a:tcPr>
                    <a:solidFill>
                      <a:srgbClr val="1218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10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512064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737360"/>
            <a:ext cx="73152" cy="2377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091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Socket Level Optimization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Bypassing third-party modules enabled the Python interpreter to assemble network headers with close-to-zero memory and process footprint overheads.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303520" cy="25603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73152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828800"/>
            <a:ext cx="48920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Dynamic Adaptability</a:t>
            </a:r>
          </a:p>
          <a:p>
            <a:pPr>
              <a:defRPr sz="1300">
                <a:solidFill>
                  <a:srgbClr val="94A3B8"/>
                </a:solidFill>
                <a:latin typeface="Arial"/>
              </a:defRPr>
            </a:pPr>
            <a:r>
              <a:t>The local config tracking logic reacted in milliseconds. Transitioning nodes to Burst triggered immediate message frequency multipliers.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4480560"/>
            <a:ext cx="10817352" cy="1463040"/>
          </a:xfrm>
          <a:prstGeom prst="roundRect">
            <a:avLst/>
          </a:prstGeom>
          <a:solidFill>
            <a:srgbClr val="280F19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43F5E"/>
                </a:solidFill>
                <a:latin typeface="Arial"/>
              </a:defRPr>
            </a:pPr>
            <a:r>
              <a:t>DDoS EVALUATION &amp; ATTACK THRESHOLDS</a:t>
            </a:r>
          </a:p>
          <a:p>
            <a:pPr>
              <a:defRPr sz="1300">
                <a:solidFill>
                  <a:srgbClr val="F8FAFC"/>
                </a:solidFill>
                <a:latin typeface="Arial"/>
              </a:defRPr>
            </a:pPr>
            <a:r>
              <a:t>Under the Attack Profile (14,210 packets sent over 60s), the receiver server threads encountered message queue delays. This validated the simulator's ability to trigger network stress states, providing a cost-effective, zero-dependency environment for testing system resilience and log analyzer rules.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11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51206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Multi-Protocol Simulation Engine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Successfully built a robust traffic generator capable of HTTP, TCP, UDP, and MQTT emulation.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Active IDS/IPS Firewall Engine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Implemented real-time DDoS rate limiting (&gt;12 pkt/s) and signature-based packet dropping.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Pure-Python PCAP Logging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Engineered byte-level PCAP header construction for Wireshark inspection without external C dependencies.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Machine Learning IDS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Replace the rule-based rate limiter with an ML model (e.g., Isolation Forest) for adaptive anomaly detection.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Real Device Integration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Extend the generator to communicate with actual hardware IoT sensors (Raspberry Pi, ESP32).</a:t>
            </a:r>
          </a:p>
          <a:p>
            <a:pPr>
              <a:spcAft>
                <a:spcPts val="400"/>
              </a:spcAft>
              <a:defRPr sz="1500" b="1">
                <a:solidFill>
                  <a:srgbClr val="F8FAFC"/>
                </a:solidFill>
                <a:latin typeface="Arial"/>
              </a:defRPr>
            </a:pPr>
            <a:r>
              <a:t>•  Cloud Deployment &amp; IPv6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  <a:latin typeface="Arial"/>
              </a:defRPr>
            </a:pPr>
            <a:r>
              <a:t>    Deploy the receiver on a cloud VM and upgrade the PCAP logger to construct IPv6 headers.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F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91440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06B6D4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411480"/>
            <a:ext cx="987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400" b="1">
                <a:solidFill>
                  <a:srgbClr val="06B6D4"/>
                </a:solidFill>
                <a:latin typeface="Courier New"/>
              </a:defRPr>
            </a:pPr>
            <a:r>
              <a:t>12 / 12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097280"/>
            <a:ext cx="10817352" cy="18288"/>
          </a:xfrm>
          <a:prstGeom prst="rect">
            <a:avLst/>
          </a:prstGeom>
          <a:solidFill>
            <a:srgbClr val="334155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817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[1]  </a:t>
            </a:r>
            <a:r>
              <a:rPr b="1">
                <a:solidFill>
                  <a:srgbClr val="F8FAFC"/>
                </a:solidFill>
              </a:rPr>
              <a:t>Python Foundation, </a:t>
            </a:r>
            <a:r>
              <a:rPr b="0">
                <a:solidFill>
                  <a:srgbClr val="94A3B8"/>
                </a:solidFill>
              </a:rPr>
              <a:t>Python 3 Docs: socket, threading, struct, http.server modules.</a:t>
            </a:r>
          </a:p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[2]  </a:t>
            </a:r>
            <a:r>
              <a:rPr b="1">
                <a:solidFill>
                  <a:srgbClr val="F8FAFC"/>
                </a:solidFill>
              </a:rPr>
              <a:t>OASIS Standard, </a:t>
            </a:r>
            <a:r>
              <a:rPr b="0">
                <a:solidFill>
                  <a:srgbClr val="94A3B8"/>
                </a:solidFill>
              </a:rPr>
              <a:t>MQTT Version 3.1.1 Specification: Publish/Subscribe Messaging Protocol for IoT.</a:t>
            </a:r>
          </a:p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[3]  </a:t>
            </a:r>
            <a:r>
              <a:rPr b="1">
                <a:solidFill>
                  <a:srgbClr val="F8FAFC"/>
                </a:solidFill>
              </a:rPr>
              <a:t>IETF (RFC 791, 793, 768), </a:t>
            </a:r>
            <a:r>
              <a:rPr b="0">
                <a:solidFill>
                  <a:srgbClr val="94A3B8"/>
                </a:solidFill>
              </a:rPr>
              <a:t>Internet Protocol (IPv4), TCP, and UDP Specifications.</a:t>
            </a:r>
          </a:p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[4]  </a:t>
            </a:r>
            <a:r>
              <a:rPr b="1">
                <a:solidFill>
                  <a:srgbClr val="F8FAFC"/>
                </a:solidFill>
              </a:rPr>
              <a:t>Wireshark Foundation, </a:t>
            </a:r>
            <a:r>
              <a:rPr b="0">
                <a:solidFill>
                  <a:srgbClr val="94A3B8"/>
                </a:solidFill>
              </a:rPr>
              <a:t>Libpcap File Format and PCAP Header Encoding Standards.</a:t>
            </a:r>
          </a:p>
          <a:p>
            <a:pPr>
              <a:spcAft>
                <a:spcPts val="1400"/>
              </a:spcAft>
              <a:defRPr sz="1400" b="1">
                <a:solidFill>
                  <a:srgbClr val="06B6D4"/>
                </a:solidFill>
                <a:latin typeface="Arial"/>
              </a:defRPr>
            </a:pPr>
            <a:r>
              <a:t>[5]  </a:t>
            </a:r>
            <a:r>
              <a:rPr b="1">
                <a:solidFill>
                  <a:srgbClr val="F8FAFC"/>
                </a:solidFill>
              </a:rPr>
              <a:t>V. Chandola et al., </a:t>
            </a:r>
            <a:r>
              <a:rPr b="0">
                <a:solidFill>
                  <a:srgbClr val="94A3B8"/>
                </a:solidFill>
              </a:rPr>
              <a:t>Anomaly Detection: A Survey, ACM Computing Surveys, 2009.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